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Century Gothic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17FAC8-8827-4C23-B6D6-15FBF0D9376F}">
  <a:tblStyle styleId="{E517FAC8-8827-4C23-B6D6-15FBF0D9376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9E7E7"/>
          </a:solidFill>
        </a:fill>
      </a:tcStyle>
    </a:wholeTbl>
    <a:band1H>
      <a:tcTxStyle/>
      <a:tcStyle>
        <a:fill>
          <a:solidFill>
            <a:srgbClr val="F3CCCB"/>
          </a:solidFill>
        </a:fill>
      </a:tcStyle>
    </a:band1H>
    <a:band2H>
      <a:tcTxStyle/>
    </a:band2H>
    <a:band1V>
      <a:tcTxStyle/>
      <a:tcStyle>
        <a:fill>
          <a:solidFill>
            <a:srgbClr val="F3CCCB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enturyGothic-bold.fntdata"/><Relationship Id="rId25" Type="http://schemas.openxmlformats.org/officeDocument/2006/relationships/font" Target="fonts/CenturyGothic-regular.fntdata"/><Relationship Id="rId28" Type="http://schemas.openxmlformats.org/officeDocument/2006/relationships/font" Target="fonts/CenturyGothic-boldItalic.fntdata"/><Relationship Id="rId27" Type="http://schemas.openxmlformats.org/officeDocument/2006/relationships/font" Target="fonts/CenturyGothic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1371600" y="1803405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371600" y="3632201"/>
            <a:ext cx="944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7909561" y="4314328"/>
            <a:ext cx="2910840" cy="374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1371600" y="4323845"/>
            <a:ext cx="640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077200" y="143086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30" name="Google Shape;3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>
            <p:ph type="title"/>
          </p:nvPr>
        </p:nvSpPr>
        <p:spPr>
          <a:xfrm>
            <a:off x="685800" y="753533"/>
            <a:ext cx="10820399" cy="2801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1024467" y="3641725"/>
            <a:ext cx="10490200" cy="95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685800" y="381001"/>
            <a:ext cx="6991492" cy="364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858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172200" y="2194559"/>
            <a:ext cx="53340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2895600" y="762000"/>
            <a:ext cx="86106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914409" y="2183802"/>
            <a:ext cx="50799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685800" y="3132666"/>
            <a:ext cx="5311775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6400800" y="2183802"/>
            <a:ext cx="510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sz="2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6172200" y="3132666"/>
            <a:ext cx="5334000" cy="308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685800" y="1524000"/>
            <a:ext cx="4114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4995582" y="746759"/>
            <a:ext cx="6510618" cy="547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685800" y="3124199"/>
            <a:ext cx="411480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685800" y="1524000"/>
            <a:ext cx="6873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7861238" y="751241"/>
            <a:ext cx="3644962" cy="5467443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685800" y="3124199"/>
            <a:ext cx="6873240" cy="309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685777" y="4697360"/>
            <a:ext cx="10822034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/>
          <p:nvPr>
            <p:ph idx="2" type="pic"/>
          </p:nvPr>
        </p:nvSpPr>
        <p:spPr>
          <a:xfrm>
            <a:off x="681727" y="941439"/>
            <a:ext cx="10821840" cy="3478161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685800" y="5516715"/>
            <a:ext cx="10820400" cy="701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79" name="Google Shape;7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 txBox="1"/>
          <p:nvPr>
            <p:ph type="title"/>
          </p:nvPr>
        </p:nvSpPr>
        <p:spPr>
          <a:xfrm>
            <a:off x="685800" y="753532"/>
            <a:ext cx="10820400" cy="280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>
            <a:off x="1024467" y="3649133"/>
            <a:ext cx="10130516" cy="9990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86" name="Google Shape;86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>
            <p:ph type="title"/>
          </p:nvPr>
        </p:nvSpPr>
        <p:spPr>
          <a:xfrm>
            <a:off x="1024467" y="753533"/>
            <a:ext cx="10151533" cy="2604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1303865" y="3365556"/>
            <a:ext cx="9592736" cy="444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3"/>
          <p:cNvSpPr txBox="1"/>
          <p:nvPr>
            <p:ph idx="2" type="body"/>
          </p:nvPr>
        </p:nvSpPr>
        <p:spPr>
          <a:xfrm>
            <a:off x="1024467" y="3959862"/>
            <a:ext cx="10151533" cy="679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7814452" y="38100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685800" y="379941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entury Gothic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96" name="Google Shape;9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>
            <p:ph type="title"/>
          </p:nvPr>
        </p:nvSpPr>
        <p:spPr>
          <a:xfrm>
            <a:off x="1024495" y="1124701"/>
            <a:ext cx="10146186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1024467" y="3648315"/>
            <a:ext cx="10144654" cy="999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14"/>
          <p:cNvSpPr txBox="1"/>
          <p:nvPr>
            <p:ph idx="10" type="dt"/>
          </p:nvPr>
        </p:nvSpPr>
        <p:spPr>
          <a:xfrm>
            <a:off x="7814452" y="378883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>
            <a:off x="685800" y="378883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895600" y="761999"/>
            <a:ext cx="8610599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685800" y="2202080"/>
            <a:ext cx="3456432" cy="617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5" name="Google Shape;105;p15"/>
          <p:cNvSpPr txBox="1"/>
          <p:nvPr>
            <p:ph idx="2" type="body"/>
          </p:nvPr>
        </p:nvSpPr>
        <p:spPr>
          <a:xfrm>
            <a:off x="685799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15"/>
          <p:cNvSpPr txBox="1"/>
          <p:nvPr>
            <p:ph idx="3" type="body"/>
          </p:nvPr>
        </p:nvSpPr>
        <p:spPr>
          <a:xfrm>
            <a:off x="4368800" y="2201333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7" name="Google Shape;107;p15"/>
          <p:cNvSpPr txBox="1"/>
          <p:nvPr>
            <p:ph idx="4" type="body"/>
          </p:nvPr>
        </p:nvSpPr>
        <p:spPr>
          <a:xfrm>
            <a:off x="4366858" y="2904067"/>
            <a:ext cx="3456432" cy="3314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15"/>
          <p:cNvSpPr txBox="1"/>
          <p:nvPr>
            <p:ph idx="5" type="body"/>
          </p:nvPr>
        </p:nvSpPr>
        <p:spPr>
          <a:xfrm>
            <a:off x="8051800" y="2192866"/>
            <a:ext cx="3456432" cy="6265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9" name="Google Shape;109;p15"/>
          <p:cNvSpPr txBox="1"/>
          <p:nvPr>
            <p:ph idx="6" type="body"/>
          </p:nvPr>
        </p:nvSpPr>
        <p:spPr>
          <a:xfrm>
            <a:off x="8051801" y="2904565"/>
            <a:ext cx="3456432" cy="3314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15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2895600" y="762000"/>
            <a:ext cx="8610599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688618" y="4191000"/>
            <a:ext cx="3451582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16"/>
          <p:cNvSpPr/>
          <p:nvPr>
            <p:ph idx="2" type="pic"/>
          </p:nvPr>
        </p:nvSpPr>
        <p:spPr>
          <a:xfrm>
            <a:off x="688618" y="2362200"/>
            <a:ext cx="3451582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1961"/>
              </a:srgbClr>
            </a:outerShdw>
          </a:effectLst>
        </p:spPr>
      </p:sp>
      <p:sp>
        <p:nvSpPr>
          <p:cNvPr id="117" name="Google Shape;117;p16"/>
          <p:cNvSpPr txBox="1"/>
          <p:nvPr>
            <p:ph idx="3" type="body"/>
          </p:nvPr>
        </p:nvSpPr>
        <p:spPr>
          <a:xfrm>
            <a:off x="688618" y="4873764"/>
            <a:ext cx="3451582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8" name="Google Shape;118;p16"/>
          <p:cNvSpPr txBox="1"/>
          <p:nvPr>
            <p:ph idx="4" type="body"/>
          </p:nvPr>
        </p:nvSpPr>
        <p:spPr>
          <a:xfrm>
            <a:off x="4374263" y="4191000"/>
            <a:ext cx="3448935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9" name="Google Shape;119;p16"/>
          <p:cNvSpPr/>
          <p:nvPr>
            <p:ph idx="5" type="pic"/>
          </p:nvPr>
        </p:nvSpPr>
        <p:spPr>
          <a:xfrm>
            <a:off x="4374263" y="2362200"/>
            <a:ext cx="3448936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1961"/>
              </a:srgbClr>
            </a:outerShdw>
          </a:effectLst>
        </p:spPr>
      </p:sp>
      <p:sp>
        <p:nvSpPr>
          <p:cNvPr id="120" name="Google Shape;120;p16"/>
          <p:cNvSpPr txBox="1"/>
          <p:nvPr>
            <p:ph idx="6" type="body"/>
          </p:nvPr>
        </p:nvSpPr>
        <p:spPr>
          <a:xfrm>
            <a:off x="4374264" y="4873763"/>
            <a:ext cx="344893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16"/>
          <p:cNvSpPr txBox="1"/>
          <p:nvPr>
            <p:ph idx="7" type="body"/>
          </p:nvPr>
        </p:nvSpPr>
        <p:spPr>
          <a:xfrm>
            <a:off x="8049731" y="4191000"/>
            <a:ext cx="3456469" cy="682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16"/>
          <p:cNvSpPr/>
          <p:nvPr>
            <p:ph idx="8" type="pic"/>
          </p:nvPr>
        </p:nvSpPr>
        <p:spPr>
          <a:xfrm>
            <a:off x="8049855" y="2362200"/>
            <a:ext cx="3447878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1961"/>
              </a:srgbClr>
            </a:outerShdw>
          </a:effectLst>
        </p:spPr>
      </p:sp>
      <p:sp>
        <p:nvSpPr>
          <p:cNvPr id="123" name="Google Shape;123;p16"/>
          <p:cNvSpPr txBox="1"/>
          <p:nvPr>
            <p:ph idx="9" type="body"/>
          </p:nvPr>
        </p:nvSpPr>
        <p:spPr>
          <a:xfrm>
            <a:off x="8049731" y="4873761"/>
            <a:ext cx="3452445" cy="1344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4" name="Google Shape;124;p16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1" type="body"/>
          </p:nvPr>
        </p:nvSpPr>
        <p:spPr>
          <a:xfrm rot="5400000">
            <a:off x="4083937" y="-1203579"/>
            <a:ext cx="4024125" cy="10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BTM.png" id="134" name="Google Shape;134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75150"/>
            <a:ext cx="12192000" cy="24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>
            <p:ph type="title"/>
          </p:nvPr>
        </p:nvSpPr>
        <p:spPr>
          <a:xfrm rot="5400000">
            <a:off x="8525933" y="1667933"/>
            <a:ext cx="39031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 rot="5400000">
            <a:off x="3175000" y="-1405467"/>
            <a:ext cx="3903133" cy="820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0" type="dt"/>
          </p:nvPr>
        </p:nvSpPr>
        <p:spPr>
          <a:xfrm>
            <a:off x="7814452" y="379941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11" type="ftr"/>
          </p:nvPr>
        </p:nvSpPr>
        <p:spPr>
          <a:xfrm>
            <a:off x="685800" y="381000"/>
            <a:ext cx="69914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12" type="sldNum"/>
          </p:nvPr>
        </p:nvSpPr>
        <p:spPr>
          <a:xfrm>
            <a:off x="10862452" y="381000"/>
            <a:ext cx="64374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0-HD-TOP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4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302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ctrTitle"/>
          </p:nvPr>
        </p:nvSpPr>
        <p:spPr>
          <a:xfrm>
            <a:off x="1371600" y="1790153"/>
            <a:ext cx="9448800" cy="1825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</a:pPr>
            <a:r>
              <a:rPr lang="en-US"/>
              <a:t>Green Pace</a:t>
            </a:r>
            <a:endParaRPr/>
          </a:p>
        </p:txBody>
      </p:sp>
      <p:sp>
        <p:nvSpPr>
          <p:cNvPr id="145" name="Google Shape;145;p19"/>
          <p:cNvSpPr txBox="1"/>
          <p:nvPr>
            <p:ph idx="1" type="subTitle"/>
          </p:nvPr>
        </p:nvSpPr>
        <p:spPr>
          <a:xfrm>
            <a:off x="1371600" y="3632200"/>
            <a:ext cx="9448800" cy="1561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None/>
            </a:pPr>
            <a:r>
              <a:rPr b="0" lang="en-US" sz="2500"/>
              <a:t>Security Policy Presentation</a:t>
            </a:r>
            <a:br>
              <a:rPr b="0" lang="en-US" sz="2500"/>
            </a:br>
            <a:r>
              <a:rPr b="0" lang="en-US" sz="2500"/>
              <a:t>Developer: Edwin Mendoza</a:t>
            </a:r>
            <a:endParaRPr/>
          </a:p>
        </p:txBody>
      </p:sp>
      <p:pic>
        <p:nvPicPr>
          <p:cNvPr descr="Green Pace logo"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0774" y="659854"/>
            <a:ext cx="2921424" cy="378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OVERVIEW: DEFENSE IN DEPTH</a:t>
            </a:r>
            <a:endParaRPr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/>
              <a:t>• Green Pace needs a repeatable security policy so secure development practices remain consistent as the development team grows.</a:t>
            </a:r>
            <a:endParaRPr sz="1600"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• The policy standardizes 10 security principles, 10 C/C++ coding standards, encryption, Triple-A controls, automated analysis, and testing.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 sz="1600"/>
              <a:t>• Defense in depth combines secure coding, automated analysis, unit/integration testing, access control, encryption, logging, monitoring, and incident response.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500"/>
              </a:spcAft>
              <a:buSzPts val="1800"/>
              <a:buChar char="•"/>
            </a:pPr>
            <a:r>
              <a:rPr lang="en-US" sz="1600"/>
              <a:t>• Security is continuous: controls are applied during planning, development, verification, release, detection, response, and improvement.</a:t>
            </a:r>
            <a:endParaRPr/>
          </a:p>
        </p:txBody>
      </p:sp>
      <p:pic>
        <p:nvPicPr>
          <p:cNvPr descr="NHS (Healthcare) Defense in Depth – Shaun Van Niekerk&#10;Screenshot of defense-in-depth best practice of layered security.  This illustration provides a visual representation of the defense-in-depth best practice of layered security.&#10;Shows the following layers of developer defense: Physical security, Cloud security, Perimeter security, network security, Host security, Endpoint security, APP security and critical assets, systems, and data security."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7750" y="4441025"/>
            <a:ext cx="6318451" cy="2354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Pace logo" id="154" name="Google Shape;1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THREATS MATRIX</a:t>
            </a:r>
            <a:endParaRPr/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685800" y="2194550"/>
            <a:ext cx="2486100" cy="4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0" lang="en-US" sz="1200"/>
              <a:t>Threat matrix:</a:t>
            </a:r>
            <a:br>
              <a:rPr b="0" lang="en-US" sz="1200"/>
            </a:br>
            <a:r>
              <a:rPr b="0" lang="en-US" sz="1200"/>
              <a:t>• Level 5 = critical/highest priority</a:t>
            </a:r>
            <a:br>
              <a:rPr b="0" lang="en-US" sz="1200"/>
            </a:br>
            <a:r>
              <a:rPr b="0" lang="en-US" sz="1200"/>
              <a:t>• Level 4 = high</a:t>
            </a:r>
            <a:br>
              <a:rPr b="0" lang="en-US" sz="1200"/>
            </a:br>
            <a:r>
              <a:rPr b="0" lang="en-US" sz="1200"/>
              <a:t>• Level 3 = moderate</a:t>
            </a:r>
            <a:br>
              <a:rPr b="0" lang="en-US" sz="1200"/>
            </a:br>
            <a:r>
              <a:rPr b="0" lang="en-US" sz="1200"/>
              <a:t>• Level 2 = lower</a:t>
            </a:r>
            <a:br>
              <a:rPr b="0" lang="en-US" sz="1200"/>
            </a:br>
            <a:r>
              <a:rPr b="0" lang="en-US" sz="1200"/>
              <a:t>• Priority reflects impact, likelihood, exploitability, and remediation urgency.</a:t>
            </a:r>
            <a:endParaRPr sz="2000"/>
          </a:p>
        </p:txBody>
      </p:sp>
      <p:pic>
        <p:nvPicPr>
          <p:cNvPr descr="Green Pace logo" id="161" name="Google Shape;1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21"/>
          <p:cNvGraphicFramePr/>
          <p:nvPr/>
        </p:nvGraphicFramePr>
        <p:xfrm>
          <a:off x="3154680" y="2331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{E517FAC8-8827-4C23-B6D6-15FBF0D9376F}</a:tableStyleId>
              </a:tblPr>
              <a:tblGrid>
                <a:gridCol w="1563625"/>
                <a:gridCol w="1563625"/>
                <a:gridCol w="1563625"/>
                <a:gridCol w="1563625"/>
                <a:gridCol w="1563625"/>
              </a:tblGrid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/>
                        <a:t>Likelihood / Impact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/>
                        <a:t>Level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/>
                        <a:t>Level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/>
                        <a:t>Level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/>
                        <a:t>Level 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Likely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STD-006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STD-002, STD-007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STD-003, STD-008, STD-009, STD-010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STD-004, STD-005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Probable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—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STD-007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STD-001, STD-009, STD-010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—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Possible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STD-006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STD-002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STD-001, STD-008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—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Unlikely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STD-006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—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—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00" u="none" cap="none" strike="noStrike"/>
                        <a:t>—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/>
                        <a:t>Immediate focus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/>
                        <a:t>—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/>
                        <a:t>STD-002, 007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/>
                        <a:t>STD-001, 003, 008, 009, 010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 u="none" cap="none" strike="noStrike"/>
                        <a:t>STD-004, 005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10 PRINCIPLES</a:t>
            </a:r>
            <a:endParaRPr/>
          </a:p>
        </p:txBody>
      </p:sp>
      <p:pic>
        <p:nvPicPr>
          <p:cNvPr descr="Green Pace logo" id="168" name="Google Shape;1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22"/>
          <p:cNvGraphicFramePr/>
          <p:nvPr/>
        </p:nvGraphicFramePr>
        <p:xfrm>
          <a:off x="685800" y="2011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{E517FAC8-8827-4C23-B6D6-15FBF0D9376F}</a:tableStyleId>
              </a:tblPr>
              <a:tblGrid>
                <a:gridCol w="3840475"/>
                <a:gridCol w="6976875"/>
              </a:tblGrid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Security principle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Coding standards aligned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1. Validate Input 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STD-001, 002, 003, 004, 006, 008, 009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2. Heed Compiler Warnings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STD-001, 008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3. Architect and Design for Security Policies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Architecture overlay; supports all standards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4. Keep It Simple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STD-003, 005, 006, 010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5. Default Deny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STD-004, 007, 009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6. Principle of Least Privilege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STD-005, 007, 010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7. Sanitize Data Sent to Other Systems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STD-002, 003, 004, 008, 009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8. Practice Defense in Depth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STD-003, 005, 006, 007, 008, 009, 010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9. Effective Quality Assurance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STD-006, 007, 010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4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10. Adopt a Secure Coding Standard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STD-001 through STD-010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CODING STANDARDS</a:t>
            </a:r>
            <a:endParaRPr/>
          </a:p>
        </p:txBody>
      </p:sp>
      <p:sp>
        <p:nvSpPr>
          <p:cNvPr id="175" name="Google Shape;175;p23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1400"/>
              <a:t>• Priority 1 — Level 5: STD-004 SQL Injection; STD-005 Memory Protection.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 sz="1400"/>
              <a:t>• Priority 2 — Level 4: STD-001 Data Type; STD-003 String Correctness; STD-008 Integer Overflow/Conversion; STD-009 Bounds/Container Access; STD-010 Resource Management/RAII.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 sz="1400"/>
              <a:t>• Priority 3 — Level 3: STD-002 Data Value; STD-007 Exceptions.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 sz="1400"/>
              <a:t>• Priority 4 — Level 2: STD-006 Assertions.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500"/>
              </a:spcAft>
              <a:buSzPts val="1800"/>
              <a:buChar char="•"/>
            </a:pPr>
            <a:r>
              <a:rPr lang="en-US" sz="1400"/>
              <a:t>• Ranking system: address the highest-impact and most exploitable weaknesses first, then reduce moderate and lower-risk defects through the normal development cycle.</a:t>
            </a:r>
            <a:endParaRPr/>
          </a:p>
        </p:txBody>
      </p:sp>
      <p:pic>
        <p:nvPicPr>
          <p:cNvPr descr="Green Pace logo" id="176" name="Google Shape;1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ENCRYPTION POLICIES</a:t>
            </a:r>
            <a:endParaRPr/>
          </a:p>
        </p:txBody>
      </p:sp>
      <p:sp>
        <p:nvSpPr>
          <p:cNvPr id="182" name="Google Shape;182;p24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 sz="1500"/>
              <a:t>• At rest: encrypt sensitive, confidential, credential, and regulated data on persistent storage, databases, backups, and endpoints; centrally manage keys.</a:t>
            </a:r>
            <a:endParaRPr sz="1600"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 sz="1500"/>
              <a:t>• In flight: require authenticated encryption in transit, such as modern TLS, across users, services, APIs, databases, and trust boundaries.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 sz="1500"/>
              <a:t>• In use: minimize sensitive data in memory, avoid unnecessary copies, and use protected execution and memory-access controls where practical.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500"/>
              </a:spcAft>
              <a:buSzPts val="1800"/>
              <a:buChar char="•"/>
            </a:pPr>
            <a:r>
              <a:rPr lang="en-US" sz="1500"/>
              <a:t>• Goal: preserve confidentiality across the data lifecycle and make encryption configuration auditable.</a:t>
            </a:r>
            <a:endParaRPr/>
          </a:p>
        </p:txBody>
      </p:sp>
      <p:pic>
        <p:nvPicPr>
          <p:cNvPr descr="Green Pace logo" id="183" name="Google Shape;1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TRIPLE-A POLICIES</a:t>
            </a:r>
            <a:endParaRPr/>
          </a:p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1500"/>
              <a:t>• Authentication — verify users, services, and devices before protected resources or privileged functions are accessed; protect credentials and require approved authentication controls.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 sz="1500"/>
              <a:t>• Authorization — apply least privilege and default deny; enforce access decisions at the server or trusted enforcement point.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 sz="1500"/>
              <a:t>• Accounting — record logins, database changes, new users, access levels, and files accessed; protect logs from unauthorized modification.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500"/>
              </a:spcAft>
              <a:buSzPts val="1800"/>
              <a:buChar char="•"/>
            </a:pPr>
            <a:r>
              <a:rPr lang="en-US" sz="1500"/>
              <a:t>• Triple-A answers: Who are you? What may you do? What did you do?</a:t>
            </a:r>
            <a:endParaRPr/>
          </a:p>
        </p:txBody>
      </p:sp>
      <p:pic>
        <p:nvPicPr>
          <p:cNvPr descr="Green Pace logo" id="190" name="Google Shape;1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2895600" y="764373"/>
            <a:ext cx="861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UNIT TEST 1 — DATA VALUE (STD-002-CPP)</a:t>
            </a:r>
            <a:endParaRPr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685800" y="2194560"/>
            <a:ext cx="10820400" cy="40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• Vulnerability: invalid or out-of-range values can cause unsafe behavior.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Negative: RejectsInvalidDataValue rejects -1 and 121.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Positive: AcceptsValidDataValue accepts an in-range value.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50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Result: PASS. Next step: add boundary, malformed-input, and fuzz tests.</a:t>
            </a:r>
            <a:endParaRPr/>
          </a:p>
        </p:txBody>
      </p:sp>
      <p:pic>
        <p:nvPicPr>
          <p:cNvPr descr="Green Pace logo" id="197" name="Google Shape;1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(20261026-034854).png" id="198" name="Google Shape;19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9500" y="4348720"/>
            <a:ext cx="3977641" cy="1870028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6"/>
          <p:cNvSpPr txBox="1"/>
          <p:nvPr/>
        </p:nvSpPr>
        <p:spPr>
          <a:xfrm>
            <a:off x="7315200" y="6199632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 Studio Test Explorer — 9/9 passed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/>
        </p:nvSpPr>
        <p:spPr>
          <a:xfrm>
            <a:off x="2898648" y="768096"/>
            <a:ext cx="8613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UNIT TEST 2 — SQL INJECTION (STD-004-CPP)</a:t>
            </a:r>
            <a:endParaRPr/>
          </a:p>
        </p:txBody>
      </p:sp>
      <p:sp>
        <p:nvSpPr>
          <p:cNvPr id="205" name="Google Shape;205;p27"/>
          <p:cNvSpPr/>
          <p:nvPr/>
        </p:nvSpPr>
        <p:spPr>
          <a:xfrm>
            <a:off x="502920" y="1691640"/>
            <a:ext cx="10698480" cy="36576"/>
          </a:xfrm>
          <a:prstGeom prst="rect">
            <a:avLst/>
          </a:prstGeom>
          <a:solidFill>
            <a:srgbClr val="32A0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685800" y="2057400"/>
            <a:ext cx="64008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Vulnerability: untrusted input may be interpreted as executable SQL.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Negative: BlocksSQLInjectionInput rejects a SQL-injection-style payload.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Positive: AcceptsNormalUserInput accepts normal user data.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Result: PASS. Next step: test parameterized queries and add DAST/integration testing.</a:t>
            </a:r>
            <a:endParaRPr/>
          </a:p>
        </p:txBody>
      </p:sp>
      <p:pic>
        <p:nvPicPr>
          <p:cNvPr descr="image(20261026-034854).png" id="207" name="Google Shape;2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2331720"/>
            <a:ext cx="3977639" cy="187002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/>
        </p:nvSpPr>
        <p:spPr>
          <a:xfrm>
            <a:off x="7315200" y="6199632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 Studio Test Explorer — 9/9 passed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/>
        </p:nvSpPr>
        <p:spPr>
          <a:xfrm>
            <a:off x="2898648" y="768096"/>
            <a:ext cx="8613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UNIT TEST 3 — MEMORY PROTECTION (STD-005-CPP)</a:t>
            </a:r>
            <a:endParaRPr/>
          </a:p>
        </p:txBody>
      </p:sp>
      <p:sp>
        <p:nvSpPr>
          <p:cNvPr id="214" name="Google Shape;214;p28"/>
          <p:cNvSpPr/>
          <p:nvPr/>
        </p:nvSpPr>
        <p:spPr>
          <a:xfrm>
            <a:off x="502920" y="1691640"/>
            <a:ext cx="10698480" cy="36576"/>
          </a:xfrm>
          <a:prstGeom prst="rect">
            <a:avLst/>
          </a:prstGeom>
          <a:solidFill>
            <a:srgbClr val="32A0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685800" y="2057400"/>
            <a:ext cx="64008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Vulnerability: unsafe object lifetime can cause use-after-free defects.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Test: UsesSafeObjectLifetime verifies safe ownership with std::unique_ptr.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Result: PASS. The test avoids deliberately dereferencing freed memory because that is undefined behavior.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Next step: add sanitizer and static-analysis coverage.</a:t>
            </a:r>
            <a:endParaRPr/>
          </a:p>
        </p:txBody>
      </p:sp>
      <p:pic>
        <p:nvPicPr>
          <p:cNvPr descr="image(20261026-034854).png"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2331720"/>
            <a:ext cx="3977639" cy="187002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/>
        </p:nvSpPr>
        <p:spPr>
          <a:xfrm>
            <a:off x="7315200" y="6199632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 Studio Test Explorer — 9/9 passed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/>
        </p:nvSpPr>
        <p:spPr>
          <a:xfrm>
            <a:off x="2898648" y="768096"/>
            <a:ext cx="8613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UNIT TEST 4 — INTEGER OVERFLOW (STD-008-CPP)</a:t>
            </a:r>
            <a:endParaRPr/>
          </a:p>
        </p:txBody>
      </p:sp>
      <p:sp>
        <p:nvSpPr>
          <p:cNvPr id="223" name="Google Shape;223;p29"/>
          <p:cNvSpPr/>
          <p:nvPr/>
        </p:nvSpPr>
        <p:spPr>
          <a:xfrm>
            <a:off x="502920" y="1691640"/>
            <a:ext cx="10698480" cy="36576"/>
          </a:xfrm>
          <a:prstGeom prst="rect">
            <a:avLst/>
          </a:prstGeom>
          <a:solidFill>
            <a:srgbClr val="32A0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685800" y="2057400"/>
            <a:ext cx="64008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Vulnerability: arithmetic overflow can produce unsafe sizes or indexes.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Negative: DetectsIntegerOverflow rejects INT_MAX + 1.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Positive: PerformsSafeIntegerAddition verifies a safe calculation.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Result: PASS. Next step: test multiplication and signed/unsigned conversions.</a:t>
            </a:r>
            <a:endParaRPr/>
          </a:p>
        </p:txBody>
      </p:sp>
      <p:pic>
        <p:nvPicPr>
          <p:cNvPr descr="image(20261026-034854).png" id="225" name="Google Shape;2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2331720"/>
            <a:ext cx="3977639" cy="187002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9"/>
          <p:cNvSpPr txBox="1"/>
          <p:nvPr/>
        </p:nvSpPr>
        <p:spPr>
          <a:xfrm>
            <a:off x="7315200" y="6199632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 Studio Test Explorer — 9/9 passed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/>
        </p:nvSpPr>
        <p:spPr>
          <a:xfrm>
            <a:off x="2898648" y="768096"/>
            <a:ext cx="86136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UNIT TEST 5 — BOUNDS CHECKING (STD-009-CPP)</a:t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>
            <a:off x="502920" y="1691640"/>
            <a:ext cx="10698480" cy="36576"/>
          </a:xfrm>
          <a:prstGeom prst="rect">
            <a:avLst/>
          </a:prstGeom>
          <a:solidFill>
            <a:srgbClr val="32A07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685800" y="2057400"/>
            <a:ext cx="6400800" cy="406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Vulnerability: invalid indexes can cause out-of-bounds access.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Negative: RejectsOutOfBoundsIndex rejects an index equal to vector size.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Positive: AcceptsValidContainerIndex returns the expected record.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Result: PASS. Next step: add empty-container, boundary, and fuzz cases.</a:t>
            </a:r>
            <a:endParaRPr/>
          </a:p>
        </p:txBody>
      </p:sp>
      <p:pic>
        <p:nvPicPr>
          <p:cNvPr descr="image(20261026-034854).png" id="234" name="Google Shape;23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2331720"/>
            <a:ext cx="3977639" cy="187002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0"/>
          <p:cNvSpPr txBox="1"/>
          <p:nvPr/>
        </p:nvSpPr>
        <p:spPr>
          <a:xfrm>
            <a:off x="7315200" y="6199632"/>
            <a:ext cx="39776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 Studio Test Explorer — 9/9 passed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AUTOMATION SUMMARY</a:t>
            </a:r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502920" y="2240280"/>
            <a:ext cx="1353312" cy="640080"/>
          </a:xfrm>
          <a:prstGeom prst="roundRect">
            <a:avLst>
              <a:gd fmla="val 16667" name="adj"/>
            </a:avLst>
          </a:prstGeom>
          <a:solidFill>
            <a:srgbClr val="E1EBF5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/>
          </a:p>
        </p:txBody>
      </p:sp>
      <p:sp>
        <p:nvSpPr>
          <p:cNvPr id="242" name="Google Shape;242;p31"/>
          <p:cNvSpPr/>
          <p:nvPr/>
        </p:nvSpPr>
        <p:spPr>
          <a:xfrm>
            <a:off x="1929384" y="2240280"/>
            <a:ext cx="1353312" cy="640080"/>
          </a:xfrm>
          <a:prstGeom prst="roundRect">
            <a:avLst>
              <a:gd fmla="val 16667" name="adj"/>
            </a:avLst>
          </a:prstGeom>
          <a:solidFill>
            <a:srgbClr val="E1EBF5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/>
          </a:p>
        </p:txBody>
      </p:sp>
      <p:sp>
        <p:nvSpPr>
          <p:cNvPr id="243" name="Google Shape;243;p31"/>
          <p:cNvSpPr/>
          <p:nvPr/>
        </p:nvSpPr>
        <p:spPr>
          <a:xfrm>
            <a:off x="3355848" y="2240280"/>
            <a:ext cx="1353312" cy="640080"/>
          </a:xfrm>
          <a:prstGeom prst="roundRect">
            <a:avLst>
              <a:gd fmla="val 16667" name="adj"/>
            </a:avLst>
          </a:prstGeom>
          <a:solidFill>
            <a:srgbClr val="E1EBF5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4782312" y="2240280"/>
            <a:ext cx="1353312" cy="640080"/>
          </a:xfrm>
          <a:prstGeom prst="roundRect">
            <a:avLst>
              <a:gd fmla="val 16667" name="adj"/>
            </a:avLst>
          </a:prstGeom>
          <a:solidFill>
            <a:srgbClr val="E1EBF5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RELEASE</a:t>
            </a:r>
            <a:endParaRPr/>
          </a:p>
        </p:txBody>
      </p:sp>
      <p:sp>
        <p:nvSpPr>
          <p:cNvPr id="245" name="Google Shape;245;p31"/>
          <p:cNvSpPr/>
          <p:nvPr/>
        </p:nvSpPr>
        <p:spPr>
          <a:xfrm>
            <a:off x="6208776" y="2240280"/>
            <a:ext cx="1353312" cy="640080"/>
          </a:xfrm>
          <a:prstGeom prst="roundRect">
            <a:avLst>
              <a:gd fmla="val 16667" name="adj"/>
            </a:avLst>
          </a:prstGeom>
          <a:solidFill>
            <a:srgbClr val="E1EBF5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PREVENT/</a:t>
            </a:r>
            <a:b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7635240" y="2240280"/>
            <a:ext cx="1353312" cy="640080"/>
          </a:xfrm>
          <a:prstGeom prst="roundRect">
            <a:avLst>
              <a:gd fmla="val 16667" name="adj"/>
            </a:avLst>
          </a:prstGeom>
          <a:solidFill>
            <a:srgbClr val="E1EBF5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RESPOND</a:t>
            </a: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9061704" y="2240280"/>
            <a:ext cx="1353312" cy="640080"/>
          </a:xfrm>
          <a:prstGeom prst="roundRect">
            <a:avLst>
              <a:gd fmla="val 16667" name="adj"/>
            </a:avLst>
          </a:prstGeom>
          <a:solidFill>
            <a:srgbClr val="E1EBF5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10488168" y="2240280"/>
            <a:ext cx="1353312" cy="640080"/>
          </a:xfrm>
          <a:prstGeom prst="roundRect">
            <a:avLst>
              <a:gd fmla="val 16667" name="adj"/>
            </a:avLst>
          </a:prstGeom>
          <a:solidFill>
            <a:srgbClr val="E1EBF5"/>
          </a:solidFill>
          <a:ln cap="flat" cmpd="sng" w="9525">
            <a:solidFill>
              <a:srgbClr val="6464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ADAPT</a:t>
            </a:r>
            <a:endParaRPr/>
          </a:p>
        </p:txBody>
      </p:sp>
      <p:sp>
        <p:nvSpPr>
          <p:cNvPr id="249" name="Google Shape;249;p31"/>
          <p:cNvSpPr txBox="1"/>
          <p:nvPr/>
        </p:nvSpPr>
        <p:spPr>
          <a:xfrm>
            <a:off x="777240" y="3200400"/>
            <a:ext cx="10332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CREATE: IDE secure-coding checks provide immediate feedback.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VERIFY: compiler warnings, SAST, software composition analysis, unit/integration tests, and DAST/IAST act as CI gates.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PRE-RELEASE: fuzzing and integration tests exercise input, memory, exception, and boundary cases.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OPERATE: signed artifacts, runtime protections, logging, monitoring, penetration testing, and security orchestration continue defense in depth.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TOOLS</a:t>
            </a:r>
            <a:endParaRPr/>
          </a:p>
        </p:txBody>
      </p:sp>
      <p:sp>
        <p:nvSpPr>
          <p:cNvPr id="255" name="Google Shape;255;p32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solidFill>
                  <a:srgbClr val="FFFFFF"/>
                </a:solidFill>
              </a:rPr>
              <a:t>• Compiler: catches syntax, type, and warning-level defects before code advances.</a:t>
            </a:r>
            <a:endParaRPr sz="1600"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SAST: scans source for insecure patterns and CERT violations.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Unit tests: verify security behavior repeatedly in CI.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DAST/IAST: exercise the running application and trust boundaries.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Fuzzing: supplies unexpected and malformed inputs.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Examples: Microsoft C++ Unit Test Framework, Clang Static Analyzer, PVS-Studio, Klocwork, CodeSonar, Parasoft C/C++test, and Polyspace Bug Finder.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50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Dependency/SCA tools identify vulnerable third-party components; security gates block high-risk findings or failed required tests.</a:t>
            </a:r>
            <a:endParaRPr/>
          </a:p>
        </p:txBody>
      </p:sp>
      <p:pic>
        <p:nvPicPr>
          <p:cNvPr descr="Green Pace logo" id="256" name="Google Shape;2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RISKS AND BENEFITS</a:t>
            </a:r>
            <a:endParaRPr/>
          </a:p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</a:pPr>
            <a:r>
              <a:rPr lang="en-US">
                <a:solidFill>
                  <a:srgbClr val="FFFFFF"/>
                </a:solidFill>
              </a:rPr>
              <a:t>• ACT NOW — Benefits: reduce exploitable defects earlier, make security repeatable, create audit evidence, and lower the cost of fixing defects before production.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ACT NOW — Costs: training, CI/CD integration, false positives, and remediation work can slow short-term delivery.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WAIT — Risks: vulnerabilities remain available for exploitation; technical debt grows; remediation becomes more disruptive after release.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Highest urgency: STD-004 SQL Injection and STD-005 Memory Protection are Level 5. Level 4 standards follow next.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50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Mitigation: automate high-value checks, tune false positives, track exceptions, and make security gates proportional to risk.</a:t>
            </a:r>
            <a:endParaRPr/>
          </a:p>
        </p:txBody>
      </p:sp>
      <p:pic>
        <p:nvPicPr>
          <p:cNvPr descr="Green Pace logo" id="263" name="Google Shape;2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RECOMMENDATIONS</a:t>
            </a:r>
            <a:endParaRPr/>
          </a:p>
        </p:txBody>
      </p:sp>
      <p:sp>
        <p:nvSpPr>
          <p:cNvPr id="269" name="Google Shape;269;p34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2" marL="1143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Close the gap between policy and evidence by retaining unit-test results, SAST/DAST findings, exceptions, and remediation records.</a:t>
            </a:r>
            <a:endParaRPr sz="1400"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Expand testing into integration, fuzzing, DAST/IAST, and sanitizer-based memory testing.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Enforce secure coding standards as CI/CD gates so high-risk violations cannot reach release without remediation or an approved exception.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Strengthen dependency and supply-chain controls with software composition analysis and signed release artifacts.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50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Review the policy at least annually and after major technology, regulatory, or threat changes.</a:t>
            </a:r>
            <a:endParaRPr/>
          </a:p>
        </p:txBody>
      </p:sp>
      <p:pic>
        <p:nvPicPr>
          <p:cNvPr descr="Green Pace logo" id="270" name="Google Shape;2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276" name="Google Shape;276;p35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US">
                <a:solidFill>
                  <a:srgbClr val="FFFFFF"/>
                </a:solidFill>
              </a:rPr>
              <a:t>• Green Pace should continue treating security as a lifecycle responsibility rather than a final review.</a:t>
            </a:r>
            <a:endParaRPr sz="1800"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Continuously enforce the 10 C/C++ standards and use CERT C/C++ as the secure-coding foundation.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Use defense in depth: validation, least privilege, sanitization, encryption, automated analysis, testing, logging, monitoring, and incident response.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Future focus: increase automated detection, expand negative/fuzz testing, strengthen supply-chain controls, and use lessons from recurring defects to update the policy.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50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Goal: measurable, repeatable, and auditable secure development.</a:t>
            </a:r>
            <a:endParaRPr/>
          </a:p>
        </p:txBody>
      </p:sp>
      <p:pic>
        <p:nvPicPr>
          <p:cNvPr descr="Green Pace logo" id="277" name="Google Shape;2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6"/>
          <p:cNvSpPr txBox="1"/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US">
                <a:solidFill>
                  <a:srgbClr val="FFFFFF"/>
                </a:solidFill>
              </a:rPr>
              <a:t>• Green Pace Security Team. (2026). Green Pace security policy (Project One completion). Internal course document.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Microsoft. (2026). Write unit tests for C++ DLLs — Visual Studio. https://learn.microsoft.com/en-us/visualstudio/test/how-to-write-unit-tests-for-cpp-dlls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OWASP Foundation. (2026). SQL Injection Prevention Cheat Sheet. https://cheatsheetseries.owasp.org/cheatsheets/SQL_Injection_Prevention_Cheat_Sheet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OWASP Foundation. (2026). Query Parameterization Cheat Sheet. https://cheatsheetseries.owasp.org/cheatsheets/Query_Parameterization_Cheat_Sheet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SEI. (2026). CERT C++ Coding Standard. https://wiki.sei.cmu.edu/confluence/display/cplusplus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500"/>
              </a:spcAft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• SEI. (2026). Automated Detection — CERT C++ Coding Standard. https://wiki.sei.cmu.edu/confluence/pages/viewpage.action?pageId=88046857</a:t>
            </a:r>
            <a:endParaRPr/>
          </a:p>
        </p:txBody>
      </p:sp>
      <p:pic>
        <p:nvPicPr>
          <p:cNvPr descr="Green Pace logo" id="284" name="Google Shape;28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4074" y="5440526"/>
            <a:ext cx="886601" cy="114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apor Trail">
  <a:themeElements>
    <a:clrScheme name="Vapor Trail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